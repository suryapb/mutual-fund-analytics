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Sk" userId="a16f0a16a7a7dad3" providerId="LiveId" clId="{30E954B3-20C5-4F67-9918-C6D322B36C31}"/>
    <pc:docChg chg="modSld">
      <pc:chgData name="Keerthi Sk" userId="a16f0a16a7a7dad3" providerId="LiveId" clId="{30E954B3-20C5-4F67-9918-C6D322B36C31}" dt="2026-08-11T13:33:05.637" v="0" actId="1038"/>
      <pc:docMkLst>
        <pc:docMk/>
      </pc:docMkLst>
      <pc:sldChg chg="modSp mod">
        <pc:chgData name="Keerthi Sk" userId="a16f0a16a7a7dad3" providerId="LiveId" clId="{30E954B3-20C5-4F67-9918-C6D322B36C31}" dt="2026-08-11T13:33:05.637" v="0" actId="1038"/>
        <pc:sldMkLst>
          <pc:docMk/>
          <pc:sldMk cId="0" sldId="267"/>
        </pc:sldMkLst>
        <pc:spChg chg="mod">
          <ac:chgData name="Keerthi Sk" userId="a16f0a16a7a7dad3" providerId="LiveId" clId="{30E954B3-20C5-4F67-9918-C6D322B36C31}" dt="2026-08-11T13:33:05.637" v="0" actId="1038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</a:defRPr>
            </a:pPr>
            <a: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/>
            </a:pPr>
            <a:r>
              <a:t>Performance • Risk • Investor Behaviour •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rPr dirty="0"/>
              <a:t>Final Capstone Presentation | August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C224B-C4EC-33BB-F38E-4492DCBAD09D}"/>
              </a:ext>
            </a:extLst>
          </p:cNvPr>
          <p:cNvSpPr txBox="1"/>
          <p:nvPr/>
        </p:nvSpPr>
        <p:spPr>
          <a:xfrm>
            <a:off x="9737888" y="5623560"/>
            <a:ext cx="2328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</a:t>
            </a:r>
          </a:p>
          <a:p>
            <a:r>
              <a:rPr lang="en-IN" dirty="0"/>
              <a:t>     Surya PB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Mutual-fund information is distributed across multiple datasets and granularities.</a:t>
            </a:r>
          </a:p>
          <a:p>
            <a:pPr>
              <a:spcAft>
                <a:spcPts val="1000"/>
              </a:spcAft>
              <a:defRPr sz="1700"/>
            </a:pPr>
            <a:r>
              <a:t>• Objective: build a reliable end-to-end analytics workflow from cleaned data to decision-ready insights.</a:t>
            </a:r>
          </a:p>
          <a:p>
            <a:pPr>
              <a:spcAft>
                <a:spcPts val="1000"/>
              </a:spcAft>
              <a:defRPr sz="1700"/>
            </a:pPr>
            <a:r>
              <a:t>• Focus: performance, downside risk, investor behaviour, portfolio concentration and interactive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Fund Master — scheme metadata and risk classification</a:t>
            </a:r>
          </a:p>
          <a:p>
            <a:pPr>
              <a:spcAft>
                <a:spcPts val="1000"/>
              </a:spcAft>
              <a:defRPr sz="1700"/>
            </a:pPr>
            <a:r>
              <a:t>• NAV History — historical NAV and daily returns</a:t>
            </a:r>
          </a:p>
          <a:p>
            <a:pPr>
              <a:spcAft>
                <a:spcPts val="1000"/>
              </a:spcAft>
              <a:defRPr sz="1700"/>
            </a:pPr>
            <a:r>
              <a:t>• AUM / SIP / Category Inflows — asset and flow trends</a:t>
            </a:r>
          </a:p>
          <a:p>
            <a:pPr>
              <a:spcAft>
                <a:spcPts val="1000"/>
              </a:spcAft>
              <a:defRPr sz="1700"/>
            </a:pPr>
            <a:r>
              <a:t>• Investor Transactions — investor behaviour and cohorts</a:t>
            </a:r>
          </a:p>
          <a:p>
            <a:pPr>
              <a:spcAft>
                <a:spcPts val="1000"/>
              </a:spcAft>
              <a:defRPr sz="1700"/>
            </a:pPr>
            <a:r>
              <a:t>• Benchmark Indices — market comparison</a:t>
            </a:r>
          </a:p>
          <a:p>
            <a:pPr>
              <a:spcAft>
                <a:spcPts val="1000"/>
              </a:spcAft>
              <a:defRPr sz="1700"/>
            </a:pPr>
            <a:r>
              <a:t>• Portfolio Holdings — sector concentration</a:t>
            </a:r>
          </a:p>
          <a:p>
            <a:pPr>
              <a:spcAft>
                <a:spcPts val="1000"/>
              </a:spcAft>
              <a:defRPr sz="1700"/>
            </a:pPr>
            <a:r>
              <a:t>• Scheme Performance — return and risk-adjusted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ETL / Analytics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Raw data → validation → cleaning → processed datasets</a:t>
            </a:r>
          </a:p>
          <a:p>
            <a:pPr>
              <a:spcAft>
                <a:spcPts val="1000"/>
              </a:spcAft>
              <a:defRPr sz="1700"/>
            </a:pPr>
            <a:r>
              <a:t>• Python/Pandas for ETL and advanced analytics</a:t>
            </a:r>
          </a:p>
          <a:p>
            <a:pPr>
              <a:spcAft>
                <a:spcPts val="1000"/>
              </a:spcAft>
              <a:defRPr sz="1700"/>
            </a:pPr>
            <a:r>
              <a:t>• SQL for structured analytical queries</a:t>
            </a:r>
          </a:p>
          <a:p>
            <a:pPr>
              <a:spcAft>
                <a:spcPts val="1000"/>
              </a:spcAft>
              <a:defRPr sz="1700"/>
            </a:pPr>
            <a:r>
              <a:t>• Power BI for interactive reporting</a:t>
            </a:r>
          </a:p>
          <a:p>
            <a:pPr>
              <a:spcAft>
                <a:spcPts val="1000"/>
              </a:spcAft>
              <a:defRPr sz="1700"/>
            </a:pPr>
            <a:r>
              <a:t>• Outputs: CSV reports, charts, notebooks, dashboard and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EDA Highlights — Data Quality &amp;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Historical NAV observations standardized by scheme and date.</a:t>
            </a:r>
          </a:p>
          <a:p>
            <a:pPr>
              <a:spcAft>
                <a:spcPts val="1000"/>
              </a:spcAft>
              <a:defRPr sz="1700"/>
            </a:pPr>
            <a:r>
              <a:t>• Daily returns calculated chronologically for 40 schemes.</a:t>
            </a:r>
          </a:p>
          <a:p>
            <a:pPr>
              <a:spcAft>
                <a:spcPts val="1000"/>
              </a:spcAft>
              <a:defRPr sz="1700"/>
            </a:pPr>
            <a:r>
              <a:t>• Investor transactions segmented by SIP, Lumpsum and Redemption.</a:t>
            </a:r>
          </a:p>
          <a:p>
            <a:pPr>
              <a:spcAft>
                <a:spcPts val="1000"/>
              </a:spcAft>
              <a:defRPr sz="1700"/>
            </a:pPr>
            <a:r>
              <a:t>• Portfolio holdings standardized by fund, sector and weight.</a:t>
            </a:r>
          </a:p>
          <a:p>
            <a:pPr>
              <a:spcAft>
                <a:spcPts val="1000"/>
              </a:spcAft>
              <a:defRPr sz="1700"/>
            </a:pPr>
            <a:r>
              <a:t>• Cleaned datasets reused across analytics and dashboard 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EDA Highlights — Investor &amp; Portfolio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2024 cohort total investment: approximately ₹225.81 crore.</a:t>
            </a:r>
          </a:p>
          <a:p>
            <a:pPr>
              <a:spcAft>
                <a:spcPts val="1000"/>
              </a:spcAft>
              <a:defRPr sz="1700"/>
            </a:pPr>
            <a:r>
              <a:t>• 2025 cohort average SIP: approximately ₹13,505.</a:t>
            </a:r>
          </a:p>
          <a:p>
            <a:pPr>
              <a:spcAft>
                <a:spcPts val="1000"/>
              </a:spcAft>
              <a:defRPr sz="1700"/>
            </a:pPr>
            <a:r>
              <a:t>• Cohort preference analysis identifies the most transacted fund per cohort.</a:t>
            </a:r>
          </a:p>
          <a:p>
            <a:pPr>
              <a:spcAft>
                <a:spcPts val="1000"/>
              </a:spcAft>
              <a:defRPr sz="1700"/>
            </a:pPr>
            <a:r>
              <a:t>• HHI analysis highlights differences in sector concentration across equity funds.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Performance Metrics — Returns &amp; Sharpe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Daily returns form the base for performance and risk calculations.</a:t>
            </a:r>
          </a:p>
          <a:p>
            <a:pPr>
              <a:spcAft>
                <a:spcPts val="1000"/>
              </a:spcAft>
              <a:defRPr sz="1700"/>
            </a:pPr>
            <a:r>
              <a:t>• Rolling 90-day Sharpe = rolling mean return / rolling standard deviation × √252.</a:t>
            </a:r>
          </a:p>
          <a:p>
            <a:pPr>
              <a:spcAft>
                <a:spcPts val="1000"/>
              </a:spcAft>
              <a:defRPr sz="1700"/>
            </a:pPr>
            <a:r>
              <a:t>• Five key funds were monitored through time.</a:t>
            </a:r>
          </a:p>
          <a:p>
            <a:pPr>
              <a:spcAft>
                <a:spcPts val="1000"/>
              </a:spcAft>
              <a:defRPr sz="1700"/>
            </a:pPr>
            <a:r>
              <a:t>• Fund performance is viewed alongside benchmark movements in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Performance Metrics — VaR, CVaR &amp; HHI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SBI Small Cap Fund - Direct Plan - Growth: VaR 95% = -2.69%; CVaR = -3.24%.</a:t>
            </a:r>
          </a:p>
          <a:p>
            <a:pPr>
              <a:spcAft>
                <a:spcPts val="1000"/>
              </a:spcAft>
              <a:defRPr sz="1700"/>
            </a:pPr>
            <a:r>
              <a:t>• The five most negative VaR observations were Very High-risk small-cap equity funds.</a:t>
            </a:r>
          </a:p>
          <a:p>
            <a:pPr>
              <a:spcAft>
                <a:spcPts val="1000"/>
              </a:spcAft>
              <a:defRPr sz="1700"/>
            </a:pPr>
            <a:r>
              <a:t>• Axis Bluechip Fund - Regular - Growth: HHI = 0.2064 in the supplied results.</a:t>
            </a:r>
          </a:p>
          <a:p>
            <a:pPr>
              <a:spcAft>
                <a:spcPts val="1000"/>
              </a:spcAft>
              <a:defRPr sz="1700"/>
            </a:pPr>
            <a:r>
              <a:t>• Higher HHI indicates greater sector concentration.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Dashboard — Industry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842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Dashboard — Fund Performance &amp; Risk Analysis</a:t>
            </a:r>
          </a:p>
        </p:txBody>
      </p:sp>
      <p:pic>
        <p:nvPicPr>
          <p:cNvPr id="3" name="Picture 2" descr="page2_fun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842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Dashboard — Investor &amp; SIP/Market Trends</a:t>
            </a:r>
          </a:p>
        </p:txBody>
      </p:sp>
      <p:pic>
        <p:nvPicPr>
          <p:cNvPr id="3" name="Picture 2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577840" cy="2743200"/>
          </a:xfrm>
          <a:prstGeom prst="rect">
            <a:avLst/>
          </a:prstGeom>
        </p:spPr>
      </p:pic>
      <p:pic>
        <p:nvPicPr>
          <p:cNvPr id="4" name="Picture 3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557784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88620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Investor Analytics: transaction mix, SIP behaviour, state-wise transaction amount and monthly volume.</a:t>
            </a:r>
          </a:p>
          <a:p>
            <a:pPr>
              <a:spcAft>
                <a:spcPts val="1000"/>
              </a:spcAft>
              <a:defRPr sz="1600"/>
            </a:pPr>
            <a:r>
              <a:t>• SIP &amp; Market Trends: SIP inflows versus NIFTY 50, category ranking and category heatmap.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667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Small-cap Very High-risk funds show the strongest downside exposure in the VaR ranking.</a:t>
            </a:r>
          </a:p>
          <a:p>
            <a:pPr>
              <a:spcAft>
                <a:spcPts val="1000"/>
              </a:spcAft>
              <a:defRPr sz="1700"/>
            </a:pPr>
            <a:r>
              <a:t>• 97.8% of eligible investors were classified as at-risk under the 35-day SIP-gap rule.</a:t>
            </a:r>
          </a:p>
          <a:p>
            <a:pPr>
              <a:spcAft>
                <a:spcPts val="1000"/>
              </a:spcAft>
              <a:defRPr sz="1700"/>
            </a:pPr>
            <a:r>
              <a:t>• Risk-based recommendations differ by risk appetite.</a:t>
            </a:r>
          </a:p>
          <a:p>
            <a:pPr>
              <a:spcAft>
                <a:spcPts val="1000"/>
              </a:spcAft>
              <a:defRPr sz="1700"/>
            </a:pPr>
            <a:r>
              <a:t>• Monitor concentration and SIP continuity as complementary risk/retention indicators.</a:t>
            </a:r>
          </a:p>
          <a:p>
            <a:pPr>
              <a:spcAft>
                <a:spcPts val="1000"/>
              </a:spcAft>
              <a:defRPr sz="1700"/>
            </a:pPr>
            <a:r>
              <a:t>• Refresh the model periodically for current decision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541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Keerthana</dc:creator>
  <cp:keywords/>
  <dc:description>generated using python-pptx</dc:description>
  <cp:lastModifiedBy>Keerthi Sk</cp:lastModifiedBy>
  <cp:revision>2</cp:revision>
  <dcterms:created xsi:type="dcterms:W3CDTF">2013-01-27T09:14:16Z</dcterms:created>
  <dcterms:modified xsi:type="dcterms:W3CDTF">2026-08-11T13:34:15Z</dcterms:modified>
  <cp:category/>
</cp:coreProperties>
</file>